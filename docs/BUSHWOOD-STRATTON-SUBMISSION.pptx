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Fund Equity (EOD)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Equity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Fri 8/28</c:v>
                </c:pt>
                <c:pt idx="1">
                  <c:v>Mon 8/31</c:v>
                </c:pt>
                <c:pt idx="2">
                  <c:v>Tue 9/1</c:v>
                </c:pt>
                <c:pt idx="3">
                  <c:v>Wed 9/2</c:v>
                </c:pt>
                <c:pt idx="4">
                  <c:v>Thu 9/3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100000.0</c:v>
                </c:pt>
                <c:pt idx="1">
                  <c:v>99940.04</c:v>
                </c:pt>
                <c:pt idx="2">
                  <c:v>99830.95</c:v>
                </c:pt>
                <c:pt idx="3">
                  <c:v>99885.45</c:v>
                </c:pt>
                <c:pt idx="4">
                  <c:v>99839.22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Bushwood Stratton Capital Partners AP — submission deck for the Alpaca AI Trading Agents Hackathon. One-liner: a Darwinian multi-agent fund where ten autonomous agents compete for capital every day; the bottom seven are fired, the top three are cloned, and every generation inherits lessons from the fallen.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one-page write-up. Emphasis for judges: (1) Darwinian selection is the core idea — agents compete daily and capital flows to proven books. (2) Autonomy with process: nightly backtest-gated gauntlet, compliance strikes, risk caps. (3) Full auditability: every order carries an agent-attributable client_order_id. (4) All trading and market data through Alpaca.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 stack slide. Every external capability is Alpaca: execution via Trading API, data via Market Data API, the competition account itself. Python does strategy/backtesting; Astro+Cloudflare publishes the public dashboard; cron orchestrates the fund's day. Remember to replace the GitHub placeholder URL before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Darwinian cycle: selection (daily firings by P&amp;L), inheritance (clones with lessons), mutation (blank-slate mutants; winners found dynasties). 38 souls hired over the week. Richard and Sam are the risk and HR faces of the same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Robustness story for judges: the fund's autonomy is bounded by process — a seven-step gauntlet per agent per night, hard exposure limits, a strikes system, and a non-trading flag so presence without exposure doesn't survive. Ernie (economist) and Charlie (compliance) are the editorial and enforcement 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Results, all pulled from the live Alpaca account and portfolio history: equity $99,839.22 EOD Sep 3, return -0.16% vs SPY +0.81%, max EOD drawdown 0.17%, 51 fills by 23 distinct agent lineages, 38 souls hired cumulatively. The fund stayed short-premium in a rallying tape; the story is process discipline, not heroics.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Placeholder — the Chief drops in the demo video/link here. Suggested beats listed below the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 with the site URL and the disclaimer.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ordo-conviction-event-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097280"/>
            <a:ext cx="4206240" cy="28041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640080"/>
            <a:ext cx="3840480" cy="292608"/>
          </a:xfrm>
          <a:prstGeom prst="rect">
            <a:avLst/>
          </a:prstGeom>
          <a:solidFill>
            <a:srgbClr val="1013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C9A227"/>
                </a:solidFill>
              </a:rPr>
              <a:t>ALPACA AI TRADING AGENTS HACKATHON — SEPTEMBER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6309360" cy="45720"/>
          </a:xfrm>
          <a:prstGeom prst="rect">
            <a:avLst/>
          </a:prstGeom>
          <a:solidFill>
            <a:srgbClr val="C9A2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6400800" cy="2011680"/>
          </a:xfrm>
          <a:prstGeom prst="rect">
            <a:avLst/>
          </a:prstGeom>
          <a:solidFill>
            <a:srgbClr val="1013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5F1E6"/>
                </a:solidFill>
              </a:rPr>
              <a:t>BUSHWOOD STRATTON</a:t>
            </a:r>
          </a:p>
          <a:p>
            <a:r>
              <a:t>CAPITAL PARTNERS, 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566160"/>
            <a:ext cx="6400800" cy="1051560"/>
          </a:xfrm>
          <a:prstGeom prst="rect">
            <a:avLst/>
          </a:prstGeom>
          <a:solidFill>
            <a:srgbClr val="1013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9BA0A8"/>
                </a:solidFill>
              </a:rPr>
              <a:t>A Darwinian multi-agent hedge fund:</a:t>
            </a:r>
          </a:p>
          <a:p>
            <a:r>
              <a:t>ten autonomous traders, fired nightly, cloned from winners.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120640"/>
            <a:ext cx="6400800" cy="914400"/>
          </a:xfrm>
          <a:prstGeom prst="rect">
            <a:avLst/>
          </a:prstGeom>
          <a:solidFill>
            <a:srgbClr val="1013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5F1E6"/>
                </a:solidFill>
              </a:rPr>
              <a:t>Team Bushwood Stratton — Doug Jenkins, PM Systems · Powered by Alpaca Paper Trading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4572000" cy="365760"/>
          </a:xfrm>
          <a:prstGeom prst="rect">
            <a:avLst/>
          </a:prstGeom>
          <a:solidFill>
            <a:srgbClr val="1013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C9A227"/>
                </a:solidFill>
              </a:rPr>
              <a:t>ONE-PAGE WRITE-UP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1148"/>
          </a:xfrm>
          <a:prstGeom prst="rect">
            <a:avLst/>
          </a:prstGeom>
          <a:solidFill>
            <a:srgbClr val="C9A2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5120640"/>
          </a:xfrm>
          <a:prstGeom prst="rect">
            <a:avLst/>
          </a:prstGeom>
          <a:solidFill>
            <a:srgbClr val="171C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5F1E6"/>
                </a:solidFill>
              </a:rPr>
              <a:t>BUSHWOOD STRATTON CAPITAL PARTNERS, AP</a:t>
            </a:r>
          </a:p>
          <a:p/>
          <a:p>
            <a:r>
              <a:t>We built a Darwinian multi-agent hedge fund on Alpaca's paper trading API: ten autonomous trading agents, each with a persistent persona, a strategy family (covered calls, cash-secured puts, credit spreads, crypto momentum), and one rule — finish the day in the top three by P&amp;L or lose your seat. Every evening the bottom seven are fired and their books are liquidated; the top three survive with their portfolios intact; and the desk respawns overnight with six clones (two per survivor, inheriting surnames and lessons) plus one blank-slate mutant trying a new strategy. A surviving mutant founds an entirely new family line. Agents that win therefore breed; agents that fail are documented, quoted, and replaced.</a:t>
            </a:r>
          </a:p>
          <a:p/>
          <a:p>
            <a:r>
              <a:t>No agent improvises. Every trade goes through a nightly Options Gauntlet: macro wire from the fund economist, option-chain analysis, strategy selection, six-month historical backtest validation (a custom engine for covered calls, CSPs, and credit spreads), a risk-officer gate with hard exposure limits, and a nine-point compliance review. Only then does a trade plan get filed and executed at the open through Alpaca — every order tagged with an agent-attributable client_order_id, so every position and every dollar of P&amp;L traces to a named agent.</a:t>
            </a:r>
          </a:p>
          <a:p/>
          <a:p>
            <a:r>
              <a:t>The result is a fund that runs itself end-to-end on a cron-driven operating cadence (macro briefing at 7:00 AM, execution at the open, hourly dashboards, 4:30 PM firings, 5:30 PM exit interviews, 6:00 PM respawns, nightly gauntlets) with a live public dashboard, portfolio holdings attribution, and a full editorial record. Over the official measurement window the fund executed 51 fills across 23 distinct agent lineages, with maximum end-of-day drawdown of 0.17% — a fully autonomous, self-correcting trading organization, not a single model with a prompt.</a:t>
            </a:r>
          </a:p>
          <a:p/>
          <a:p>
            <a:r>
              <a:t>Tech stack (all execution and market data via Alpaca): Alpaca Trading API (REST), Alpaca Market Data API (IEX feed; indicative options chains), Python, Astro/Cloudflare (public site), SQLite/JSON state, cron-orchestrated autonomous agents.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solidFill>
            <a:srgbClr val="1013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C9A227"/>
                </a:solidFill>
              </a:rPr>
              <a:t>ARCHITECTURE — ALPACA AT THE CENTER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1148"/>
          </a:xfrm>
          <a:prstGeom prst="rect">
            <a:avLst/>
          </a:prstGeom>
          <a:solidFill>
            <a:srgbClr val="C9A2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5394960" cy="4937760"/>
          </a:xfrm>
          <a:prstGeom prst="rect">
            <a:avLst/>
          </a:prstGeom>
          <a:solidFill>
            <a:srgbClr val="171C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5F1E6"/>
                </a:solidFill>
              </a:rPr>
              <a:t>TECHNOLOGY STACK</a:t>
            </a:r>
          </a:p>
          <a:p/>
          <a:p>
            <a:r>
              <a:t>[Alpaca] Trading API — REST order execution</a:t>
            </a:r>
          </a:p>
          <a:p>
            <a:r>
              <a:t>   (equities, options L3, crypto, client_order_id attribution)</a:t>
            </a:r>
          </a:p>
          <a:p/>
          <a:p>
            <a:r>
              <a:t>[Alpaca] Market Data API — IEX equity feed,</a:t>
            </a:r>
          </a:p>
          <a:p>
            <a:r>
              <a:t>   indicative option chains, crypto quotes, portfolio history</a:t>
            </a:r>
          </a:p>
          <a:p/>
          <a:p>
            <a:r>
              <a:t>[Alpaca] Paper Account — $100,000 starting balance,</a:t>
            </a:r>
          </a:p>
          <a:p>
            <a:r>
              <a:t>   official competition account PA3GWO1FKED0</a:t>
            </a:r>
          </a:p>
          <a:p/>
          <a:p>
            <a:r>
              <a:t>Python — backtest engine (covered calls, CSPs, credit</a:t>
            </a:r>
          </a:p>
          <a:p>
            <a:r>
              <a:t>   spreads, 6-month bar validation), market data CLI, risk math</a:t>
            </a:r>
          </a:p>
          <a:p/>
          <a:p>
            <a:r>
              <a:t>Astro + Cloudflare Workers — live public site &amp; dashboard</a:t>
            </a:r>
          </a:p>
          <a:p>
            <a:r>
              <a:t>SQLite/JSON — state, message board, HR log, audit trail</a:t>
            </a:r>
          </a:p>
          <a:p>
            <a:r>
              <a:t>Cron orchestration — 9 scheduled jobs run the whole fund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1143000"/>
            <a:ext cx="5394960" cy="4937760"/>
          </a:xfrm>
          <a:prstGeom prst="rect">
            <a:avLst/>
          </a:prstGeom>
          <a:solidFill>
            <a:srgbClr val="171C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5F1E6"/>
                </a:solidFill>
              </a:rPr>
              <a:t>DAILY OPERATING LOOP (fully autonomous)</a:t>
            </a:r>
          </a:p>
          <a:p/>
          <a:p>
            <a:r>
              <a:t>07:00  Economist files the macro Wire; published to site</a:t>
            </a:r>
          </a:p>
          <a:p>
            <a:r>
              <a:t>09:35  Gap-checked trade plans execute at the open</a:t>
            </a:r>
          </a:p>
          <a:p>
            <a:r>
              <a:t>12:00  Mid-day risk &amp; compliance audit</a:t>
            </a:r>
          </a:p>
          <a:p>
            <a:r>
              <a:t>16:30  THE FIRING — bottom 7 by P&amp;L are terminated</a:t>
            </a:r>
          </a:p>
          <a:p>
            <a:r>
              <a:t>16:45  Fired books liquidated to cash (audit-tagged)</a:t>
            </a:r>
          </a:p>
          <a:p>
            <a:r>
              <a:t>17:30  Exit interviews; lessons filed for inheritance</a:t>
            </a:r>
          </a:p>
          <a:p>
            <a:r>
              <a:t>18:00  Respawn: 6 clones + 1 mutant; capital reallocated</a:t>
            </a:r>
          </a:p>
          <a:p>
            <a:r>
              <a:t>19:00  Options Gauntlet: backtest → risk → compliance</a:t>
            </a:r>
          </a:p>
          <a:p/>
          <a:p>
            <a:r>
              <a:t>Every order: client_order_id = agent-NN-date-leg-seq</a:t>
            </a:r>
          </a:p>
          <a:p>
            <a:r>
              <a:t>Every position traces to a named, accountable agent.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solidFill>
            <a:srgbClr val="1013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C9A227"/>
                </a:solidFill>
              </a:rPr>
              <a:t>GitHub repository: &lt;YOUR-REPO-URL-HERE&gt;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m-happy-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4480560"/>
            <a:ext cx="2377440" cy="1584960"/>
          </a:xfrm>
          <a:prstGeom prst="rect">
            <a:avLst/>
          </a:prstGeom>
        </p:spPr>
      </p:pic>
      <p:pic>
        <p:nvPicPr>
          <p:cNvPr id="3" name="Picture 2" descr="richard-ris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4480560"/>
            <a:ext cx="2377440" cy="15849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11480"/>
            <a:ext cx="6400800" cy="365760"/>
          </a:xfrm>
          <a:prstGeom prst="rect">
            <a:avLst/>
          </a:prstGeom>
          <a:solidFill>
            <a:srgbClr val="1013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C9A227"/>
                </a:solidFill>
              </a:rPr>
              <a:t>THE DARWINIAN CYCLE — EVOLUTION UNDER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1155680" cy="41148"/>
          </a:xfrm>
          <a:prstGeom prst="rect">
            <a:avLst/>
          </a:prstGeom>
          <a:solidFill>
            <a:srgbClr val="C9A2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11064240" cy="3017520"/>
          </a:xfrm>
          <a:prstGeom prst="rect">
            <a:avLst/>
          </a:prstGeom>
          <a:solidFill>
            <a:srgbClr val="171C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5F1E6"/>
                </a:solidFill>
              </a:rPr>
              <a:t>SELECTION: Every agent is ranked by daily P&amp;L. The bottom seven are fired — no tenure, no politics, no protected seats. A green book beats a famous last name.</a:t>
            </a:r>
          </a:p>
          <a:p/>
          <a:p>
            <a:r>
              <a:t>INHERITANCE: The top three survive with portfolios carried untouched. Overnight, the desk respawns with six clones (two per survivor) plus one blank-slate mutant. Clones inherit the family surname and the lessons the fallen paid for, injected verbatim into their souls from nightly exit interviews. A mutant that earns its chair founds a new family line.</a:t>
            </a:r>
          </a:p>
          <a:p/>
          <a:p>
            <a:r>
              <a:t>RESULT: 38 agent souls hired across the competition week; strategies evolve daily while institutional memory compounds. The fund is a population, not a prompt.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343400"/>
            <a:ext cx="5212080" cy="822960"/>
          </a:xfrm>
          <a:prstGeom prst="rect">
            <a:avLst/>
          </a:prstGeom>
          <a:solidFill>
            <a:srgbClr val="171C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5F1E6"/>
                </a:solidFill>
              </a:rPr>
              <a:t>Richard Perrion — Chief Risk Officer.</a:t>
            </a:r>
          </a:p>
          <a:p>
            <a:r>
              <a:t>Leverage caps, delta law, hard stops. "Risk isn't noise. It's data."</a:t>
            </a:r>
          </a:p>
        </p:txBody>
      </p:sp>
      <p:sp>
        <p:nvSpPr>
          <p:cNvPr id="8" name="Rectangle 7"/>
          <p:cNvSpPr/>
          <p:nvPr/>
        </p:nvSpPr>
        <p:spPr>
          <a:xfrm>
            <a:off x="8549640" y="3794760"/>
            <a:ext cx="2514600" cy="640080"/>
          </a:xfrm>
          <a:prstGeom prst="rect">
            <a:avLst/>
          </a:prstGeom>
          <a:solidFill>
            <a:srgbClr val="171C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5F1E6"/>
                </a:solidFill>
              </a:rPr>
              <a:t>Sam the Bartender — Morale &amp; Liquidity. Exit interviews.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arlie-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977639"/>
            <a:ext cx="2743200" cy="1828800"/>
          </a:xfrm>
          <a:prstGeom prst="rect">
            <a:avLst/>
          </a:prstGeom>
        </p:spPr>
      </p:pic>
      <p:pic>
        <p:nvPicPr>
          <p:cNvPr id="3" name="Picture 2" descr="ernie-economic-pul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977639"/>
            <a:ext cx="2743200" cy="1828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11480"/>
            <a:ext cx="6858000" cy="365760"/>
          </a:xfrm>
          <a:prstGeom prst="rect">
            <a:avLst/>
          </a:prstGeom>
          <a:solidFill>
            <a:srgbClr val="1013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C9A227"/>
                </a:solidFill>
              </a:rPr>
              <a:t>COMPLIANCE, RISK &amp; AUTONOMY GUARDRAILS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11155680" cy="41148"/>
          </a:xfrm>
          <a:prstGeom prst="rect">
            <a:avLst/>
          </a:prstGeom>
          <a:solidFill>
            <a:srgbClr val="C9A2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1097280"/>
            <a:ext cx="4983480" cy="5120640"/>
          </a:xfrm>
          <a:prstGeom prst="rect">
            <a:avLst/>
          </a:prstGeom>
          <a:solidFill>
            <a:srgbClr val="171C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5F1E6"/>
                </a:solidFill>
              </a:rPr>
              <a:t>THE GAUNTLET (per agent, nightly)</a:t>
            </a:r>
          </a:p>
          <a:p>
            <a:r>
              <a:t>1  Macro wire read (economist)</a:t>
            </a:r>
          </a:p>
          <a:p>
            <a:r>
              <a:t>2  Option chain analysis</a:t>
            </a:r>
          </a:p>
          <a:p>
            <a:r>
              <a:t>3  Strategy selection within family</a:t>
            </a:r>
          </a:p>
          <a:p>
            <a:r>
              <a:t>4  6-month backtest validation</a:t>
            </a:r>
          </a:p>
          <a:p>
            <a:r>
              <a:t>5  Risk gate — exposure &amp; delta caps</a:t>
            </a:r>
          </a:p>
          <a:p>
            <a:r>
              <a:t>6  9-point compliance checklist</a:t>
            </a:r>
          </a:p>
          <a:p>
            <a:r>
              <a:t>7  Trade plan filed; executed at open</a:t>
            </a:r>
          </a:p>
          <a:p/>
          <a:p>
            <a:r>
              <a:t>HARD LIMITS</a:t>
            </a:r>
          </a:p>
          <a:p>
            <a:r>
              <a:t>• 1 contract per trade, ≤5 open positions</a:t>
            </a:r>
          </a:p>
          <a:p>
            <a:r>
              <a:t>• Leverage ≤ 2x gross</a:t>
            </a:r>
          </a:p>
          <a:p>
            <a:r>
              <a:t>• Put entry delta ≤ 0.20</a:t>
            </a:r>
          </a:p>
          <a:p>
            <a:r>
              <a:t>• Sector concentration ≤ 40%</a:t>
            </a:r>
          </a:p>
          <a:p>
            <a:r>
              <a:t>• 3 compliance strikes = automatic firing</a:t>
            </a:r>
          </a:p>
          <a:p>
            <a:r>
              <a:t>• Non-trading flag: flat book on a</a:t>
            </a:r>
          </a:p>
          <a:p>
            <a:r>
              <a:t>   directional day is ineligible to survive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943600" cy="2651760"/>
          </a:xfrm>
          <a:prstGeom prst="rect">
            <a:avLst/>
          </a:prstGeom>
          <a:solidFill>
            <a:srgbClr val="171C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5F1E6"/>
                </a:solidFill>
              </a:rPr>
              <a:t>Compliance Charlie — the gate. Every order passes a nine-point review on the kanban board; strikes are permanent record. Outcome never excuses a broken process.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812280"/>
            <a:ext cx="5852160" cy="320040"/>
          </a:xfrm>
          <a:prstGeom prst="rect">
            <a:avLst/>
          </a:prstGeom>
          <a:solidFill>
            <a:srgbClr val="1013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solidFill>
            <a:srgbClr val="1013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C9A227"/>
                </a:solidFill>
              </a:rPr>
              <a:t>RESULTS — OFFICIAL MEASUREMENT WINDOW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1148"/>
          </a:xfrm>
          <a:prstGeom prst="rect">
            <a:avLst/>
          </a:prstGeom>
          <a:solidFill>
            <a:srgbClr val="C9A2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5394960" cy="4937760"/>
          </a:xfrm>
          <a:prstGeom prst="rect">
            <a:avLst/>
          </a:prstGeom>
          <a:solidFill>
            <a:srgbClr val="171C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5F1E6"/>
                </a:solidFill>
              </a:rPr>
              <a:t>ACCOUNT (Alpaca paper)</a:t>
            </a:r>
          </a:p>
          <a:p>
            <a:r>
              <a:t>PA3GWO1FKED0 — $100,000 start</a:t>
            </a:r>
          </a:p>
          <a:p/>
          <a:p>
            <a:r>
              <a:t>Total equity EOD Sep 3:  $99,839.22</a:t>
            </a:r>
          </a:p>
          <a:p>
            <a:r>
              <a:t>Return (official window):  −0.16%</a:t>
            </a:r>
          </a:p>
          <a:p/>
          <a:p>
            <a:r>
              <a:t>SPY same window:  +0.81%</a:t>
            </a:r>
          </a:p>
          <a:p>
            <a:r>
              <a:t>Relative:  −0.98 pp</a:t>
            </a:r>
          </a:p>
          <a:p/>
          <a:p>
            <a:r>
              <a:t>Max EOD drawdown:  0.17%</a:t>
            </a:r>
          </a:p>
          <a:p>
            <a:r>
              <a:t>Fills (official window):  51</a:t>
            </a:r>
          </a:p>
          <a:p>
            <a:r>
              <a:t>Distinct agents traded:  23</a:t>
            </a:r>
          </a:p>
          <a:p>
            <a:r>
              <a:t>Agent souls hired to date:  38</a:t>
            </a:r>
          </a:p>
          <a:p>
            <a:r>
              <a:t>Firings processed:  28 across 4 cycles</a:t>
            </a:r>
          </a:p>
          <a:p/>
          <a:p>
            <a:r>
              <a:t>A defensive, premium-selling fund in a</a:t>
            </a:r>
          </a:p>
          <a:p>
            <a:r>
              <a:t>tape that rallied — drawdown held under</a:t>
            </a:r>
          </a:p>
          <a:p>
            <a:r>
              <a:t>one-fifth of one percent all week.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1234440"/>
            <a:ext cx="5394960" cy="39319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3640" y="5394960"/>
            <a:ext cx="5394960" cy="777240"/>
          </a:xfrm>
          <a:prstGeom prst="rect">
            <a:avLst/>
          </a:prstGeom>
          <a:solidFill>
            <a:srgbClr val="171C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5F1E6"/>
                </a:solidFill>
              </a:rPr>
              <a:t>Selection pressure kept risk discipline absolute: zero strikes all week, max EOD drawdown 0.17%, every position attributable to a named agent via client_order_id.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63640" y="1234440"/>
          <a:ext cx="53949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4572000" cy="365760"/>
          </a:xfrm>
          <a:prstGeom prst="rect">
            <a:avLst/>
          </a:prstGeom>
          <a:solidFill>
            <a:srgbClr val="1013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C9A227"/>
                </a:solidFill>
              </a:rPr>
              <a:t>DEMO VIDEO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1148"/>
          </a:xfrm>
          <a:prstGeom prst="rect">
            <a:avLst/>
          </a:prstGeom>
          <a:solidFill>
            <a:srgbClr val="C9A2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27248" y="1325880"/>
            <a:ext cx="5943600" cy="3346704"/>
          </a:xfrm>
          <a:prstGeom prst="rect">
            <a:avLst/>
          </a:prstGeom>
          <a:solidFill>
            <a:srgbClr val="1E243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C9A227"/>
                </a:solidFill>
              </a:rPr>
              <a:t>▶</a:t>
            </a:r>
          </a:p>
          <a:p/>
          <a:p>
            <a:r>
              <a:t>[ DEMO VIDEO PLACEHOLDER 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983480"/>
            <a:ext cx="11064240" cy="1188720"/>
          </a:xfrm>
          <a:prstGeom prst="rect">
            <a:avLst/>
          </a:prstGeom>
          <a:solidFill>
            <a:srgbClr val="171C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5F1E6"/>
                </a:solidFill>
              </a:rPr>
              <a:t>Suggested demo beats: 7:00 AM Wire → 9:35 gap-gated execution on the live tape → kanban compliance gate → 4:30 firing board → 5:30 exit interviews → 6:00 respawn with inherited lessons → live dashboard at bushwoodstratton.com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ordo-conviction-event-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11680"/>
            <a:ext cx="3108960" cy="2072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97680" y="2011680"/>
            <a:ext cx="7315200" cy="822960"/>
          </a:xfrm>
          <a:prstGeom prst="rect">
            <a:avLst/>
          </a:prstGeom>
          <a:solidFill>
            <a:srgbClr val="1013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C9A227"/>
                </a:solidFill>
              </a:rPr>
              <a:t>"Be the ball. Beat the index. Don't get fired."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0" y="3017520"/>
            <a:ext cx="7315200" cy="1463040"/>
          </a:xfrm>
          <a:prstGeom prst="rect">
            <a:avLst/>
          </a:prstGeom>
          <a:solidFill>
            <a:srgbClr val="1013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5F1E6"/>
                </a:solidFill>
              </a:rPr>
              <a:t>Bushwood Stratton Capital Partners, AP</a:t>
            </a:r>
          </a:p>
          <a:p>
            <a:r>
              <a:t>Alpaca AI Trading Agents Hackathon — September 2026</a:t>
            </a:r>
          </a:p>
          <a:p>
            <a:r>
              <a:t>Paper trading. Not investment advice.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4663440"/>
            <a:ext cx="7315200" cy="731520"/>
          </a:xfrm>
          <a:prstGeom prst="rect">
            <a:avLst/>
          </a:prstGeom>
          <a:solidFill>
            <a:srgbClr val="1013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9BA0A8"/>
                </a:solidFill>
              </a:rPr>
              <a:t>Live public dashboard: bushwoodstratton.com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